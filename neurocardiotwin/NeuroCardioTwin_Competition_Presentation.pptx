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097280"/>
            <a:ext cx="4572000" cy="4572000"/>
          </a:xfrm>
          <a:prstGeom prst="ellipse">
            <a:avLst/>
          </a:prstGeom>
          <a:solidFill>
            <a:srgbClr val="0F3E58"/>
          </a:solidFill>
          <a:ln>
            <a:solidFill>
              <a:srgbClr val="0F3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548640"/>
            <a:ext cx="3566160" cy="3566160"/>
          </a:xfrm>
          <a:prstGeom prst="ellipse">
            <a:avLst/>
          </a:prstGeom>
          <a:solidFill>
            <a:srgbClr val="0C5668"/>
          </a:solidFill>
          <a:ln>
            <a:solidFill>
              <a:srgbClr val="0C5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2648" y="685800"/>
            <a:ext cx="676656" cy="676656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758952"/>
            <a:ext cx="676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100" b="1">
                <a:solidFill>
                  <a:srgbClr val="071122"/>
                </a:solidFill>
                <a:latin typeface="Aptos"/>
              </a:defRPr>
            </a:pPr>
            <a:r>
              <a:t>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664208"/>
            <a:ext cx="7315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1">
                <a:solidFill>
                  <a:srgbClr val="22D3EE"/>
                </a:solidFill>
                <a:latin typeface="Courier New"/>
              </a:defRPr>
            </a:pPr>
            <a:r>
              <a:t>NEUROCARDIOTWIN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57400"/>
            <a:ext cx="731520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4000" b="1">
                <a:solidFill>
                  <a:srgbClr val="EDF6FF"/>
                </a:solidFill>
                <a:latin typeface="Aptos"/>
              </a:defRPr>
            </a:pPr>
            <a:r>
              <a:t>Signals, with</a:t>
            </a:r>
            <a:br/>
            <a:r>
              <a:t>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47872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700" b="0">
                <a:solidFill>
                  <a:srgbClr val="A4BED6"/>
                </a:solidFill>
                <a:latin typeface="Aptos"/>
              </a:defRPr>
            </a:pPr>
            <a:r>
              <a:t>A privacy-first AI brain–heart digital twin for</a:t>
            </a:r>
            <a:br/>
            <a:r>
              <a:t>research-grade EEG and ECG decision support.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3063240" cy="457200"/>
          </a:xfrm>
          <a:prstGeom prst="roundRect">
            <a:avLst/>
          </a:prstGeom>
          <a:solidFill>
            <a:srgbClr val="16304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846320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5CE1A7"/>
                </a:solidFill>
                <a:latin typeface="Aptos"/>
              </a:defRPr>
            </a:pPr>
            <a:r>
              <a:t>বাংলা + English • Secure • Explainable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A4BED6"/>
                </a:solidFill>
                <a:latin typeface="Aptos"/>
              </a:defRPr>
            </a:pPr>
            <a:r>
              <a:t>Competition Pitch Deck  | 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Vital signals arrive disconnected.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106070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A4BED6"/>
                </a:solidFill>
                <a:latin typeface="Aptos"/>
              </a:defRPr>
            </a:pPr>
            <a:r>
              <a:t>Clinicians and researchers need a safer bridge from raw biosignal to actionable research workflow.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474720" cy="205740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331720"/>
            <a:ext cx="438912" cy="438912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50008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Fragmented modalities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916936"/>
            <a:ext cx="3072384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EEG and ECG are commonly reviewed in separate tools, obscuring brain–heart context.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2148840"/>
            <a:ext cx="3474720" cy="205740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44568" y="2331720"/>
            <a:ext cx="438912" cy="438912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2350008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Opaque AI outputs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916936"/>
            <a:ext cx="3072384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A probability alone cannot tell a researcher what to verify next or where the evidence came from.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48840"/>
            <a:ext cx="3474720" cy="205740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1040" y="2331720"/>
            <a:ext cx="438912" cy="438912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8" y="2350008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Trust &amp; access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916936"/>
            <a:ext cx="3072384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Research platforms must protect private data while remaining usable for Bangla-speaking users.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80060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Courier New"/>
              </a:defRPr>
            </a:pPr>
            <a:r>
              <a:t>Design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102352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200" b="1">
                <a:solidFill>
                  <a:srgbClr val="EDF6FF"/>
                </a:solidFill>
                <a:latin typeface="Aptos"/>
              </a:defRPr>
            </a:pPr>
            <a:r>
              <a:t>How do we make multimodal AI understandable, privacy-aware, and inclusive—without pretending it is a medical device?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One secure workspace. Three intelligent 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106070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A4BED6"/>
                </a:solidFill>
                <a:latin typeface="Aptos"/>
              </a:defRPr>
            </a:pPr>
            <a:r>
              <a:t>NeuroCardioTwin turns validated signal inputs into a grounded research decision—not a diagnosis.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3337560" cy="2926080"/>
          </a:xfrm>
          <a:prstGeom prst="roundRect">
            <a:avLst/>
          </a:prstGeom>
          <a:solidFill>
            <a:srgbClr val="122740"/>
          </a:solidFill>
          <a:ln>
            <a:solidFill>
              <a:srgbClr val="2E54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377440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1">
                <a:solidFill>
                  <a:srgbClr val="22D3EE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944368"/>
            <a:ext cx="2788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700" b="1">
                <a:solidFill>
                  <a:srgbClr val="EDF6FF"/>
                </a:solidFill>
                <a:latin typeface="Aptos"/>
              </a:defRPr>
            </a:pPr>
            <a:r>
              <a:t>Local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456432"/>
            <a:ext cx="2788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A4BED6"/>
                </a:solidFill>
                <a:latin typeface="Aptos"/>
              </a:defRPr>
            </a:pPr>
            <a:r>
              <a:t>ONNX EEG seizure, ECG rhythm, and joint forecasting models run in the application backend.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526280"/>
            <a:ext cx="2560320" cy="45720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53128" y="2148840"/>
            <a:ext cx="3337560" cy="2926080"/>
          </a:xfrm>
          <a:prstGeom prst="roundRect">
            <a:avLst/>
          </a:prstGeom>
          <a:solidFill>
            <a:srgbClr val="122740"/>
          </a:solidFill>
          <a:ln>
            <a:solidFill>
              <a:srgbClr val="2E54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2377440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1">
                <a:solidFill>
                  <a:srgbClr val="14B8A6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944368"/>
            <a:ext cx="2788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700" b="1">
                <a:solidFill>
                  <a:srgbClr val="EDF6FF"/>
                </a:solidFill>
                <a:latin typeface="Aptos"/>
              </a:defRPr>
            </a:pPr>
            <a:r>
              <a:t>Evidence grounding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456432"/>
            <a:ext cx="2788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A4BED6"/>
                </a:solidFill>
                <a:latin typeface="Aptos"/>
              </a:defRPr>
            </a:pPr>
            <a:r>
              <a:t>Hugging Face embeddings + Pinecone retrieve only approved research knowledge before AI guidance is generated.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81728" y="4526280"/>
            <a:ext cx="2560320" cy="4572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47888" y="2148840"/>
            <a:ext cx="3337560" cy="2926080"/>
          </a:xfrm>
          <a:prstGeom prst="roundRect">
            <a:avLst/>
          </a:prstGeom>
          <a:solidFill>
            <a:srgbClr val="122740"/>
          </a:solidFill>
          <a:ln>
            <a:solidFill>
              <a:srgbClr val="2E54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2377440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1">
                <a:solidFill>
                  <a:srgbClr val="A78BFA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2944368"/>
            <a:ext cx="2788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700" b="1">
                <a:solidFill>
                  <a:srgbClr val="EDF6FF"/>
                </a:solidFill>
                <a:latin typeface="Aptos"/>
              </a:defRPr>
            </a:pPr>
            <a:r>
              <a:t>Human-centred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3456432"/>
            <a:ext cx="2788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A4BED6"/>
                </a:solidFill>
                <a:latin typeface="Aptos"/>
              </a:defRPr>
            </a:pPr>
            <a:r>
              <a:t>Bilingual UI, clear safety boundaries, private profile/history, and a live research assistant.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76488" y="4526280"/>
            <a:ext cx="2560320" cy="45720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A privacy-first decision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106070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A4BED6"/>
                </a:solidFill>
                <a:latin typeface="Aptos"/>
              </a:defRPr>
            </a:pPr>
            <a:r>
              <a:t>Raw waveforms stay inside the controlled model path; only compact output summaries enter the RAG workflow.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468880"/>
            <a:ext cx="2286000" cy="1600200"/>
          </a:xfrm>
          <a:prstGeom prst="roundRect">
            <a:avLst/>
          </a:prstGeom>
          <a:solidFill>
            <a:srgbClr val="122740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670048"/>
            <a:ext cx="320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Courier New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35808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Validated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29000"/>
            <a:ext cx="1874519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>
                <a:solidFill>
                  <a:srgbClr val="A4BED6"/>
                </a:solidFill>
                <a:latin typeface="Aptos"/>
              </a:defRPr>
            </a:pPr>
            <a:r>
              <a:t>EEG / ECG</a:t>
            </a:r>
            <a:br/>
            <a:r>
              <a:t>CSV or sensor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088" y="3072384"/>
            <a:ext cx="3474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22D3E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8" y="2468880"/>
            <a:ext cx="2286000" cy="1600200"/>
          </a:xfrm>
          <a:prstGeom prst="roundRect">
            <a:avLst/>
          </a:prstGeom>
          <a:solidFill>
            <a:srgbClr val="122740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670048"/>
            <a:ext cx="320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Courier New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3035808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Local ONNX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3429000"/>
            <a:ext cx="1874519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>
                <a:solidFill>
                  <a:srgbClr val="A4BED6"/>
                </a:solidFill>
                <a:latin typeface="Aptos"/>
              </a:defRPr>
            </a:pPr>
            <a:r>
              <a:t>Inference +</a:t>
            </a:r>
            <a:br/>
            <a:r>
              <a:t>input-quality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3016" y="3072384"/>
            <a:ext cx="3474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22D3E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216" y="2468880"/>
            <a:ext cx="2286000" cy="1600200"/>
          </a:xfrm>
          <a:prstGeom prst="roundRect">
            <a:avLst/>
          </a:prstGeom>
          <a:solidFill>
            <a:srgbClr val="122740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670048"/>
            <a:ext cx="320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A78BFA"/>
                </a:solidFill>
                <a:latin typeface="Courier New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3035808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Private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3429000"/>
            <a:ext cx="1874519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>
                <a:solidFill>
                  <a:srgbClr val="A4BED6"/>
                </a:solidFill>
                <a:latin typeface="Aptos"/>
              </a:defRPr>
            </a:pPr>
            <a:r>
              <a:t>HF embedding →</a:t>
            </a:r>
            <a:br/>
            <a:r>
              <a:t>Pinecone 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95944" y="3072384"/>
            <a:ext cx="3474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22D3E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53144" y="2468880"/>
            <a:ext cx="2286000" cy="1600200"/>
          </a:xfrm>
          <a:prstGeom prst="roundRect">
            <a:avLst/>
          </a:prstGeom>
          <a:solidFill>
            <a:srgbClr val="122740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7736" y="2670048"/>
            <a:ext cx="320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Courier New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3035808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Decision support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4" y="3429000"/>
            <a:ext cx="1874519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0">
                <a:solidFill>
                  <a:srgbClr val="A4BED6"/>
                </a:solidFill>
                <a:latin typeface="Aptos"/>
              </a:defRPr>
            </a:pPr>
            <a:r>
              <a:t>Grounded response +</a:t>
            </a:r>
            <a:br/>
            <a:r>
              <a:t>source citations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5024" y="4864608"/>
            <a:ext cx="9509760" cy="594360"/>
          </a:xfrm>
          <a:prstGeom prst="roundRect">
            <a:avLst/>
          </a:prstGeom>
          <a:solidFill>
            <a:srgbClr val="0E3741"/>
          </a:solidFill>
          <a:ln>
            <a:solidFill>
              <a:srgbClr val="2585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72768" y="5065776"/>
            <a:ext cx="90525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5CE1A7"/>
                </a:solidFill>
                <a:latin typeface="Aptos"/>
              </a:defRPr>
            </a:pPr>
            <a:r>
              <a:t>Privacy boundary: no email, access token, profile data, upload, or raw waveform is sent to the RAG prompt or vector index.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From signal upload to a transparent research output.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84831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071115"/>
            <a:ext cx="614476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Sign in securely with Auth0; each user has a protected private workspace.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60903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647187"/>
            <a:ext cx="614476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Upload numeric EEG/ECG data or select a controlled demo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36975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223259"/>
            <a:ext cx="614476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Run local inference with explicit sample-validation and model confidence.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3047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799331"/>
            <a:ext cx="614476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Receive an integrated decision with approved evidence sources and safety boundaries.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89119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4375403"/>
            <a:ext cx="614476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Review only your own compact decision history—never raw waveform history.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2103120"/>
            <a:ext cx="3429000" cy="3108960"/>
          </a:xfrm>
          <a:prstGeom prst="roundRect">
            <a:avLst/>
          </a:prstGeom>
          <a:solidFill>
            <a:srgbClr val="122740"/>
          </a:solidFill>
          <a:ln>
            <a:solidFill>
              <a:srgbClr val="3157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237744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Courier New"/>
              </a:defRPr>
            </a:pPr>
            <a:r>
              <a:t>LIVE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8" y="278892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900" b="1">
                <a:solidFill>
                  <a:srgbClr val="EDF6FF"/>
                </a:solidFill>
                <a:latin typeface="Aptos"/>
              </a:defRPr>
            </a:pPr>
            <a:r>
              <a:t>1 minute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3296" y="3429000"/>
            <a:ext cx="2651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300" b="0">
                <a:solidFill>
                  <a:srgbClr val="A4BED6"/>
                </a:solidFill>
                <a:latin typeface="Aptos"/>
              </a:defRPr>
            </a:pPr>
            <a:r>
              <a:t>Sign in → upload/demo → run model → see evidence-grounded decision → ask the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4617720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50" b="1">
                <a:solidFill>
                  <a:srgbClr val="5CE1A7"/>
                </a:solidFill>
                <a:latin typeface="Aptos"/>
              </a:defRPr>
            </a:pPr>
            <a:r>
              <a:t>Judges can inspect the result, source citations, and privacy story in one flow.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Not just another prediction dashboard.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074920" cy="1234440"/>
          </a:xfrm>
          <a:prstGeom prst="roundRect">
            <a:avLst/>
          </a:prstGeom>
          <a:solidFill>
            <a:srgbClr val="122740"/>
          </a:solidFill>
          <a:ln>
            <a:solidFill>
              <a:srgbClr val="315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04872"/>
            <a:ext cx="502920" cy="50292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500" b="1">
                <a:solidFill>
                  <a:srgbClr val="EDF6FF"/>
                </a:solidFill>
                <a:latin typeface="Aptos"/>
              </a:defRPr>
            </a:pPr>
            <a:r>
              <a:t>Multimodal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06624"/>
            <a:ext cx="3794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0">
                <a:solidFill>
                  <a:srgbClr val="A4BED6"/>
                </a:solidFill>
                <a:latin typeface="Aptos"/>
              </a:defRPr>
            </a:pPr>
            <a:r>
              <a:t>EEG, ECG, and their future trajectory live in one research workspace.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03120"/>
            <a:ext cx="5074920" cy="1234440"/>
          </a:xfrm>
          <a:prstGeom prst="roundRect">
            <a:avLst/>
          </a:prstGeom>
          <a:solidFill>
            <a:srgbClr val="122740"/>
          </a:solidFill>
          <a:ln>
            <a:solidFill>
              <a:srgbClr val="315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2404872"/>
            <a:ext cx="502920" cy="502920"/>
          </a:xfrm>
          <a:prstGeom prst="ellipse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331720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500" b="1">
                <a:solidFill>
                  <a:srgbClr val="EDF6FF"/>
                </a:solidFill>
                <a:latin typeface="Aptos"/>
              </a:defRPr>
            </a:pPr>
            <a:r>
              <a:t>RAG is integrated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706624"/>
            <a:ext cx="3794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0">
                <a:solidFill>
                  <a:srgbClr val="A4BED6"/>
                </a:solidFill>
                <a:latin typeface="Aptos"/>
              </a:defRPr>
            </a:pPr>
            <a:r>
              <a:t>Evidence retrieval shapes the same decision workflow—not a disconnected chatbot.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03320"/>
            <a:ext cx="5074920" cy="1234440"/>
          </a:xfrm>
          <a:prstGeom prst="roundRect">
            <a:avLst/>
          </a:prstGeom>
          <a:solidFill>
            <a:srgbClr val="122740"/>
          </a:solidFill>
          <a:ln>
            <a:solidFill>
              <a:srgbClr val="315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4005072"/>
            <a:ext cx="502920" cy="50292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3931920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500" b="1">
                <a:solidFill>
                  <a:srgbClr val="EDF6FF"/>
                </a:solidFill>
                <a:latin typeface="Aptos"/>
              </a:defRPr>
            </a:pPr>
            <a:r>
              <a:t>Safe by 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06824"/>
            <a:ext cx="3794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0">
                <a:solidFill>
                  <a:srgbClr val="A4BED6"/>
                </a:solidFill>
                <a:latin typeface="Aptos"/>
              </a:defRPr>
            </a:pPr>
            <a:r>
              <a:t>Prototype framing, source-aware responses, and no diagnostic claims.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03320"/>
            <a:ext cx="5074920" cy="1234440"/>
          </a:xfrm>
          <a:prstGeom prst="roundRect">
            <a:avLst/>
          </a:prstGeom>
          <a:solidFill>
            <a:srgbClr val="122740"/>
          </a:solidFill>
          <a:ln>
            <a:solidFill>
              <a:srgbClr val="315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4005072"/>
            <a:ext cx="502920" cy="502920"/>
          </a:xfrm>
          <a:prstGeom prst="ellipse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931920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500" b="1">
                <a:solidFill>
                  <a:srgbClr val="EDF6FF"/>
                </a:solidFill>
                <a:latin typeface="Aptos"/>
              </a:defRPr>
            </a:pPr>
            <a:r>
              <a:t>Bangla-ready 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306824"/>
            <a:ext cx="3794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0">
                <a:solidFill>
                  <a:srgbClr val="A4BED6"/>
                </a:solidFill>
                <a:latin typeface="Aptos"/>
              </a:defRPr>
            </a:pPr>
            <a:r>
              <a:t>The full static interface and assistant can be switched between English and বাংলা.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TRUST, SAFETY &amp;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The strongest AI system is the one that knows its boundary.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043684"/>
            <a:ext cx="6236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Auth0-protected application access and scoped MCP permissions.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24328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610612"/>
            <a:ext cx="6236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Server-side secret handling: browser never receives Hugging Face, Pinecone, or Supabase service keys.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91256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177540"/>
            <a:ext cx="6236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Per-user, server-filtered history with Row-Level Security; compact metadata only.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58184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744468"/>
            <a:ext cx="6236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RAG index contains reviewed local knowledge—not personal records or waveforms.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25112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4311396"/>
            <a:ext cx="6236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Visible research-only safety notice; no diagnosis, triage, or treatment instruction.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2103120"/>
            <a:ext cx="3383280" cy="2971800"/>
          </a:xfrm>
          <a:prstGeom prst="roundRect">
            <a:avLst/>
          </a:prstGeom>
          <a:solidFill>
            <a:srgbClr val="153D3A"/>
          </a:solidFill>
          <a:ln>
            <a:solidFill>
              <a:srgbClr val="3494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2514600"/>
            <a:ext cx="1188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200" b="1">
                <a:solidFill>
                  <a:srgbClr val="5CE1A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3520440"/>
            <a:ext cx="27432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EDF6FF"/>
                </a:solidFill>
                <a:latin typeface="Aptos"/>
              </a:defRPr>
            </a:pPr>
            <a:r>
              <a:t>Privacy is a feature,</a:t>
            </a:r>
            <a:br/>
            <a:r>
              <a:t>not a footnote.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4370832"/>
            <a:ext cx="269748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A4BED6"/>
                </a:solidFill>
                <a:latin typeface="Aptos"/>
              </a:defRPr>
            </a:pPr>
            <a:r>
              <a:t>Designed so researchers can explain what crosses the AI boundary—and what does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SAFETY ESCALATION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AI is not the last stop in an emergency.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106070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A4BED6"/>
                </a:solidFill>
                <a:latin typeface="Aptos"/>
              </a:defRPr>
            </a:pPr>
            <a:r>
              <a:t>NeuroCardioTwin keeps the emergency path separate from model inference and assistant chat.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3401568" cy="233172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331720"/>
            <a:ext cx="438912" cy="438912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350008"/>
            <a:ext cx="24871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Recognise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916936"/>
            <a:ext cx="2999232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Visible urgent-warning panel covers chest pain or pressure, severe breathing difficulty, fainting, confusion, seizure and severe bleeding.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2148840"/>
            <a:ext cx="3401568" cy="233172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90288" y="2331720"/>
            <a:ext cx="438912" cy="438912"/>
          </a:xfrm>
          <a:prstGeom prst="round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350008"/>
            <a:ext cx="24871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916936"/>
            <a:ext cx="2999232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One tap opens the phone dialler for Bangladesh National Emergency Service 999. The interface tells users not to wait for an AI reply.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2148840"/>
            <a:ext cx="3401568" cy="233172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39328" y="2331720"/>
            <a:ext cx="438912" cy="438912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2350008"/>
            <a:ext cx="24871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16936"/>
            <a:ext cx="2999232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Bilingual Bengali/English instructions: alert someone nearby, do not stay alone, keep the phone available, and avoid driving when severely unwell.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15568" y="4983480"/>
            <a:ext cx="9235440" cy="548640"/>
          </a:xfrm>
          <a:prstGeom prst="roundRect">
            <a:avLst/>
          </a:prstGeom>
          <a:solidFill>
            <a:srgbClr val="3F1825"/>
          </a:solidFill>
          <a:ln>
            <a:solidFill>
              <a:srgbClr val="B442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175504"/>
            <a:ext cx="8732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DAE0"/>
                </a:solidFill>
                <a:latin typeface="Aptos"/>
              </a:defRPr>
            </a:pPr>
            <a:r>
              <a:t>Safety boundary: the app never diagnoses an emergency; it makes the fastest real-world help path obvious.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WHAT WE VALIDATE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Real model execution—not invented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106070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A4BED6"/>
                </a:solidFill>
                <a:latin typeface="Aptos"/>
              </a:defRPr>
            </a:pPr>
            <a:r>
              <a:t>Model performance is reported from the connected backend, while the interface exposes input and runtime constraints.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74720" cy="201168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438912" cy="438912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350008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Input integrity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16936"/>
            <a:ext cx="30723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Required sample windows, finite-value checks, sampling rate, and validated input state before inference.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74720" cy="201168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3712" y="2331720"/>
            <a:ext cx="438912" cy="438912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50008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Operational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16936"/>
            <a:ext cx="30723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ONNX CPU model status, output confidence, classification/forecast details, and API-backed metrics surfaces.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2148840"/>
            <a:ext cx="3474720" cy="2011680"/>
          </a:xfrm>
          <a:prstGeom prst="roundRect">
            <a:avLst/>
          </a:prstGeom>
          <a:solidFill>
            <a:srgbClr val="122740"/>
          </a:solidFill>
          <a:ln>
            <a:solidFill>
              <a:srgbClr val="2F54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4463" y="2331720"/>
            <a:ext cx="438912" cy="438912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3" y="2395728"/>
            <a:ext cx="4389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071122"/>
                </a:solidFill>
                <a:latin typeface="Aptos"/>
              </a:defRPr>
            </a:pPr>
            <a:r>
              <a:t>#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1391" y="2350008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1">
                <a:solidFill>
                  <a:srgbClr val="EDF6FF"/>
                </a:solidFill>
                <a:latin typeface="Aptos"/>
              </a:defRPr>
            </a:pPr>
            <a:r>
              <a:t>Evidence traceability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1" y="2916936"/>
            <a:ext cx="30723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50" b="0">
                <a:solidFill>
                  <a:srgbClr val="A4BED6"/>
                </a:solidFill>
                <a:latin typeface="Aptos"/>
              </a:defRPr>
            </a:pPr>
            <a:r>
              <a:t>Decision outputs cite approved knowledge titles, making the RAG layer inspectable by judges.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82312"/>
            <a:ext cx="1645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Courier New"/>
              </a:defRPr>
            </a:pPr>
            <a:r>
              <a:t>Honest claim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74920"/>
            <a:ext cx="101498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800" b="1">
                <a:solidFill>
                  <a:srgbClr val="EDF6FF"/>
                </a:solidFill>
                <a:latin typeface="Aptos"/>
              </a:defRPr>
            </a:pPr>
            <a:r>
              <a:t>This is a research prototype, not a clinical device. Its strength is a transparent, reproducible workflow—not overstated medical claims.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789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IMPACT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700" b="1">
                <a:solidFill>
                  <a:srgbClr val="EDF6FF"/>
                </a:solidFill>
                <a:latin typeface="Aptos"/>
              </a:defRPr>
            </a:pPr>
            <a:r>
              <a:t>A platform designed to grow with the research community.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64792"/>
            <a:ext cx="11064240" cy="18288"/>
          </a:xfrm>
          <a:prstGeom prst="rect">
            <a:avLst/>
          </a:prstGeom>
          <a:solidFill>
            <a:srgbClr val="305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043684"/>
            <a:ext cx="60533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Pilot with supervised research teams using consented, de-identified signal datasets.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79192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665476"/>
            <a:ext cx="60533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Expand the approved knowledge base through clinician/researcher review workflows.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00984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287268"/>
            <a:ext cx="60533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Add calibrated model evaluation, cohort-level fairness analysis, and reproducible audit exports.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22776"/>
            <a:ext cx="201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0">
                <a:solidFill>
                  <a:srgbClr val="22D3EE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909060"/>
            <a:ext cx="60533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400" b="0">
                <a:solidFill>
                  <a:srgbClr val="EDF6FF"/>
                </a:solidFill>
                <a:latin typeface="Aptos"/>
              </a:defRPr>
            </a:pPr>
            <a:r>
              <a:t>Connect validated real-time devices only after robust signal-quality and governance testing.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2057400"/>
            <a:ext cx="3657600" cy="3108960"/>
          </a:xfrm>
          <a:prstGeom prst="roundRect">
            <a:avLst/>
          </a:prstGeom>
          <a:solidFill>
            <a:srgbClr val="122740"/>
          </a:solidFill>
          <a:ln>
            <a:solidFill>
              <a:srgbClr val="3157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2350008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Courier New"/>
              </a:defRPr>
            </a:pPr>
            <a: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798064"/>
            <a:ext cx="27432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400" b="1">
                <a:solidFill>
                  <a:srgbClr val="EDF6FF"/>
                </a:solidFill>
                <a:latin typeface="Aptos"/>
              </a:defRPr>
            </a:pPr>
            <a:r>
              <a:t>Inclusive,</a:t>
            </a:r>
            <a:br/>
            <a:r>
              <a:t>evidence-aware</a:t>
            </a:r>
            <a:br/>
            <a:r>
              <a:t>brain–heart AI.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443984"/>
            <a:ext cx="2743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5CE1A7"/>
                </a:solidFill>
                <a:latin typeface="Aptos"/>
              </a:defRPr>
            </a:pPr>
            <a:r>
              <a:t>Built in Bangladesh; designed for globally responsible digital-health research.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3566160"/>
            <a:ext cx="3749039" cy="3749039"/>
          </a:xfrm>
          <a:prstGeom prst="ellipse">
            <a:avLst/>
          </a:prstGeom>
          <a:solidFill>
            <a:srgbClr val="0E4E5E"/>
          </a:solidFill>
          <a:ln>
            <a:solidFill>
              <a:srgbClr val="0E4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Courier New"/>
              </a:defRPr>
            </a:pPr>
            <a:r>
              <a:t>NEUROCARDIOTWIN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87782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3700" b="1">
                <a:solidFill>
                  <a:srgbClr val="EDF6FF"/>
                </a:solidFill>
                <a:latin typeface="Aptos"/>
              </a:defRPr>
            </a:pPr>
            <a:r>
              <a:t>Better signals.</a:t>
            </a:r>
            <a:br/>
            <a:r>
              <a:t>Better context.</a:t>
            </a:r>
            <a:br/>
            <a:r>
              <a:t>Better research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56432"/>
            <a:ext cx="7040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600" b="0">
                <a:solidFill>
                  <a:srgbClr val="A4BED6"/>
                </a:solidFill>
                <a:latin typeface="Aptos"/>
              </a:defRPr>
            </a:pPr>
            <a:r>
              <a:t>The brain and heart should not be understood in isolation.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4343400"/>
            <a:ext cx="3154680" cy="566928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4535424"/>
            <a:ext cx="269748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71122"/>
                </a:solidFill>
                <a:latin typeface="Aptos"/>
              </a:defRPr>
            </a:pPr>
            <a:r>
              <a:t>Thank you  • 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Courier New"/>
              </a:defRPr>
            </a:pPr>
            <a:r>
              <a:t>Live demo: neurocardiotwin.vercel.app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519672"/>
            <a:ext cx="73152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700" b="1">
                <a:solidFill>
                  <a:srgbClr val="A4BED6"/>
                </a:solidFill>
                <a:latin typeface="Courier New"/>
              </a:defRPr>
            </a:pPr>
            <a:r>
              <a:t>NEUROCARDIOTWIN  •  AI-POWERED BRAIN–HEART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83096"/>
            <a:ext cx="502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22D3EE"/>
                </a:solidFill>
                <a:latin typeface="Courier New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