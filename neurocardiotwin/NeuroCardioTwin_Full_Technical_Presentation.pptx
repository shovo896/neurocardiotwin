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097280"/>
            <a:ext cx="4572000" cy="4572000"/>
          </a:xfrm>
          <a:prstGeom prst="ellipse">
            <a:avLst/>
          </a:prstGeom>
          <a:solidFill>
            <a:srgbClr val="0F3E58"/>
          </a:solidFill>
          <a:ln>
            <a:solidFill>
              <a:srgbClr val="0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548640"/>
            <a:ext cx="3566160" cy="3566160"/>
          </a:xfrm>
          <a:prstGeom prst="ellipse">
            <a:avLst/>
          </a:prstGeom>
          <a:solidFill>
            <a:srgbClr val="0C5668"/>
          </a:solidFill>
          <a:ln>
            <a:solidFill>
              <a:srgbClr val="0C5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685800"/>
            <a:ext cx="676656" cy="676656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758952"/>
            <a:ext cx="676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071122"/>
                </a:solidFill>
                <a:latin typeface="Aptos"/>
              </a:defRPr>
            </a:pPr>
            <a:r>
              <a:t>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Courier New"/>
              </a:defRPr>
            </a:pPr>
            <a:r>
              <a:t>NEUROCARDIOTWIN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7315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4000" b="1">
                <a:solidFill>
                  <a:srgbClr val="EDF6FF"/>
                </a:solidFill>
                <a:latin typeface="Aptos"/>
              </a:defRPr>
            </a:pPr>
            <a:r>
              <a:t>Signals, with</a:t>
            </a:r>
            <a:br/>
            <a:r>
              <a:t>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47872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A4BED6"/>
                </a:solidFill>
                <a:latin typeface="Aptos"/>
              </a:defRPr>
            </a:pPr>
            <a:r>
              <a:t>A privacy-first AI brain–heart digital twin for</a:t>
            </a:r>
            <a:br/>
            <a:r>
              <a:t>research-grade EEG and ECG decision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09160"/>
            <a:ext cx="3063240" cy="457200"/>
          </a:xfrm>
          <a:prstGeom prst="roundRect">
            <a:avLst/>
          </a:prstGeom>
          <a:solidFill>
            <a:srgbClr val="16304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84632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5CE1A7"/>
                </a:solidFill>
                <a:latin typeface="Aptos"/>
              </a:defRPr>
            </a:pPr>
            <a:r>
              <a:t>বাংলা + English • Secure • Explainable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A4BED6"/>
                </a:solidFill>
                <a:latin typeface="Aptos"/>
              </a:defRPr>
            </a:pPr>
            <a:r>
              <a:t>Competition Pitch Deck  |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Vital signals arrive disconnected.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Clinicians and researchers need a safer bridge from raw biosignal to actionable research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3474720" cy="205740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438912" cy="43891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500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Fragmented modalities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16936"/>
            <a:ext cx="30723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EEG and ECG are commonly reviewed in separate tools, obscuring brain–heart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148840"/>
            <a:ext cx="3474720" cy="205740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44568" y="2331720"/>
            <a:ext cx="438912" cy="438912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23500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Opaque AI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916936"/>
            <a:ext cx="30723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A probability alone cannot tell a researcher what to verify next or where the evidence came from.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48840"/>
            <a:ext cx="3474720" cy="205740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2331720"/>
            <a:ext cx="438912" cy="438912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23500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Trust &amp; access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916936"/>
            <a:ext cx="307238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Research platforms must protect private data while remaining usable for Bangla-speaking users.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800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Courier New"/>
              </a:defRPr>
            </a:pPr>
            <a:r>
              <a:t>Design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102352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EDF6FF"/>
                </a:solidFill>
                <a:latin typeface="Aptos"/>
              </a:defRPr>
            </a:pPr>
            <a:r>
              <a:t>How do we make multimodal AI understandable, privacy-aware, and inclusive—without pretending it is a medical device?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One secure workspace. Three intelligent 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NeuroCardioTwin turns validated signal inputs into a grounded research decision—not a diagnosis.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337560" cy="2926080"/>
          </a:xfrm>
          <a:prstGeom prst="roundRect">
            <a:avLst/>
          </a:prstGeom>
          <a:solidFill>
            <a:srgbClr val="122740"/>
          </a:solidFill>
          <a:ln>
            <a:solidFill>
              <a:srgbClr val="2E5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377440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22D3EE"/>
                </a:solidFill>
                <a:latin typeface="Courier New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44368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EDF6FF"/>
                </a:solidFill>
                <a:latin typeface="Aptos"/>
              </a:defRPr>
            </a:pPr>
            <a:r>
              <a:t>Local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456432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ONNX EEG seizure, ECG rhythm, and joint forecasting models run in the application backend.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" y="4526280"/>
            <a:ext cx="2560320" cy="4572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53128" y="2148840"/>
            <a:ext cx="3337560" cy="2926080"/>
          </a:xfrm>
          <a:prstGeom prst="roundRect">
            <a:avLst/>
          </a:prstGeom>
          <a:solidFill>
            <a:srgbClr val="122740"/>
          </a:solidFill>
          <a:ln>
            <a:solidFill>
              <a:srgbClr val="2E5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2377440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14B8A6"/>
                </a:solidFill>
                <a:latin typeface="Courier New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944368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EDF6FF"/>
                </a:solidFill>
                <a:latin typeface="Aptos"/>
              </a:defRPr>
            </a:pPr>
            <a:r>
              <a:t>Evidence 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456432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Hugging Face embeddings + Pinecone retrieve only approved research knowledge before AI guidance is generated.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1728" y="4526280"/>
            <a:ext cx="2560320" cy="457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47888" y="2148840"/>
            <a:ext cx="3337560" cy="2926080"/>
          </a:xfrm>
          <a:prstGeom prst="roundRect">
            <a:avLst/>
          </a:prstGeom>
          <a:solidFill>
            <a:srgbClr val="122740"/>
          </a:solidFill>
          <a:ln>
            <a:solidFill>
              <a:srgbClr val="2E54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2377440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ourier New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944368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EDF6FF"/>
                </a:solidFill>
                <a:latin typeface="Aptos"/>
              </a:defRPr>
            </a:pPr>
            <a:r>
              <a:t>Human-centred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3456432"/>
            <a:ext cx="2788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Bilingual UI, clear safety boundaries, private profile/history, and a live research assistant.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76488" y="4526280"/>
            <a:ext cx="2560320" cy="4572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A privacy-first decision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Raw waveforms stay inside the controlled model path; only compact output summaries enter the RAG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2286000" cy="1600200"/>
          </a:xfrm>
          <a:prstGeom prst="roundRect">
            <a:avLst/>
          </a:prstGeom>
          <a:solidFill>
            <a:srgbClr val="122740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6700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Courier New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3580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Validated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187451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EEG / ECG</a:t>
            </a:r>
            <a:br/>
            <a:r>
              <a:t>CSV or sensor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3072384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468880"/>
            <a:ext cx="2286000" cy="1600200"/>
          </a:xfrm>
          <a:prstGeom prst="roundRect">
            <a:avLst/>
          </a:prstGeom>
          <a:solidFill>
            <a:srgbClr val="122740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6700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Courier New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03580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Local ONNX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429000"/>
            <a:ext cx="187451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Inference +</a:t>
            </a:r>
            <a:br/>
            <a:r>
              <a:t>input-quality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3016" y="3072384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2468880"/>
            <a:ext cx="2286000" cy="1600200"/>
          </a:xfrm>
          <a:prstGeom prst="roundRect">
            <a:avLst/>
          </a:prstGeom>
          <a:solidFill>
            <a:srgbClr val="122740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6700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A78BFA"/>
                </a:solidFill>
                <a:latin typeface="Courier New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03580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Private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429000"/>
            <a:ext cx="187451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HF embedding →</a:t>
            </a:r>
            <a:br/>
            <a:r>
              <a:t>Pinecone 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3072384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2468880"/>
            <a:ext cx="2286000" cy="1600200"/>
          </a:xfrm>
          <a:prstGeom prst="roundRect">
            <a:avLst/>
          </a:prstGeom>
          <a:solidFill>
            <a:srgbClr val="122740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7736" y="267004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Courier New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03580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3429000"/>
            <a:ext cx="1874519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Grounded response +</a:t>
            </a:r>
            <a:br/>
            <a:r>
              <a:t>source citations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5024" y="4864608"/>
            <a:ext cx="9509760" cy="594360"/>
          </a:xfrm>
          <a:prstGeom prst="roundRect">
            <a:avLst/>
          </a:prstGeom>
          <a:solidFill>
            <a:srgbClr val="0E3741"/>
          </a:solidFill>
          <a:ln>
            <a:solidFill>
              <a:srgbClr val="25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5065776"/>
            <a:ext cx="9052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5CE1A7"/>
                </a:solidFill>
                <a:latin typeface="Aptos"/>
              </a:defRPr>
            </a:pPr>
            <a:r>
              <a:t>Privacy boundary: no email, access token, profile data, upload, or raw waveform is sent to the RAG prompt or vector index.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From signal upload to a transparent research output.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071115"/>
            <a:ext cx="6144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Sign in securely with Auth0; each user has a protected private workspace.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60903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647187"/>
            <a:ext cx="6144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Upload numeric EEG/ECG data or select a controlled demo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36975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223259"/>
            <a:ext cx="6144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Run local inference with explicit sample-validation and model confidence.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13047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799331"/>
            <a:ext cx="6144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Receive an integrated decision with approved evidence sources and safety boundaries.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89119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4375403"/>
            <a:ext cx="61447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Review only your own compact decision history—never raw waveform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103120"/>
            <a:ext cx="3429000" cy="3108960"/>
          </a:xfrm>
          <a:prstGeom prst="roundRect">
            <a:avLst/>
          </a:prstGeom>
          <a:solidFill>
            <a:srgbClr val="122740"/>
          </a:solidFill>
          <a:ln>
            <a:solidFill>
              <a:srgbClr val="315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37744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Courier New"/>
              </a:defRPr>
            </a:pPr>
            <a:r>
              <a:t>LIVE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7889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900" b="1">
                <a:solidFill>
                  <a:srgbClr val="EDF6FF"/>
                </a:solidFill>
                <a:latin typeface="Aptos"/>
              </a:defRPr>
            </a:pPr>
            <a:r>
              <a:t>1 minute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3429000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A4BED6"/>
                </a:solidFill>
                <a:latin typeface="Aptos"/>
              </a:defRPr>
            </a:pPr>
            <a:r>
              <a:t>Sign in → upload/demo → run model → see evidence-grounded decision → ask the assistant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4617720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5CE1A7"/>
                </a:solidFill>
                <a:latin typeface="Aptos"/>
              </a:defRPr>
            </a:pPr>
            <a:r>
              <a:t>Judges can inspect the result, source citations, and privacy story in one 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WHY THIS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Not just another prediction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074920" cy="1234440"/>
          </a:xfrm>
          <a:prstGeom prst="roundRect">
            <a:avLst/>
          </a:prstGeom>
          <a:solidFill>
            <a:srgbClr val="122740"/>
          </a:solidFill>
          <a:ln>
            <a:solidFill>
              <a:srgbClr val="31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404872"/>
            <a:ext cx="502920" cy="50292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3172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Multimodal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06624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EEG, ECG, and their future trajectory live in one research workspace.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074920" cy="1234440"/>
          </a:xfrm>
          <a:prstGeom prst="roundRect">
            <a:avLst/>
          </a:prstGeom>
          <a:solidFill>
            <a:srgbClr val="122740"/>
          </a:solidFill>
          <a:ln>
            <a:solidFill>
              <a:srgbClr val="31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2404872"/>
            <a:ext cx="502920" cy="502920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33172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RAG is integrated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706624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Evidence retrieval shapes the same decision workflow—not a disconnected chatbot.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074920" cy="1234440"/>
          </a:xfrm>
          <a:prstGeom prst="roundRect">
            <a:avLst/>
          </a:prstGeom>
          <a:solidFill>
            <a:srgbClr val="122740"/>
          </a:solidFill>
          <a:ln>
            <a:solidFill>
              <a:srgbClr val="31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005072"/>
            <a:ext cx="502920" cy="50292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Safe by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06824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Prototype framing, source-aware responses, and no diagnostic claims.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5074920" cy="1234440"/>
          </a:xfrm>
          <a:prstGeom prst="roundRect">
            <a:avLst/>
          </a:prstGeom>
          <a:solidFill>
            <a:srgbClr val="122740"/>
          </a:solidFill>
          <a:ln>
            <a:solidFill>
              <a:srgbClr val="315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4005072"/>
            <a:ext cx="502920" cy="502920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93192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Bangla-ready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306824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The full static interface and assistant can be switched between English and বাংলা.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TRUST, SAFETY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The strongest AI system is the one that knows its boundary.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043684"/>
            <a:ext cx="6236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Auth0-protected application access and scoped MCP permissions.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24328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610612"/>
            <a:ext cx="6236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Server-side secret handling: browser never receives Hugging Face, Pinecone, or Supabase service keys.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91256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177540"/>
            <a:ext cx="6236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Per-user, server-filtered history with Row-Level Security; compact metadata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58184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744468"/>
            <a:ext cx="6236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RAG index contains reviewed local knowledge—not personal records or waveforms.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25112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4311396"/>
            <a:ext cx="62362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Visible research-only safety notice; no diagnosis, triage, or treatment instruction.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103120"/>
            <a:ext cx="3383280" cy="2971800"/>
          </a:xfrm>
          <a:prstGeom prst="roundRect">
            <a:avLst/>
          </a:prstGeom>
          <a:solidFill>
            <a:srgbClr val="153D3A"/>
          </a:solidFill>
          <a:ln>
            <a:solidFill>
              <a:srgbClr val="349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8" y="2514600"/>
            <a:ext cx="1188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5CE1A7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52044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EDF6FF"/>
                </a:solidFill>
                <a:latin typeface="Aptos"/>
              </a:defRPr>
            </a:pPr>
            <a:r>
              <a:t>Privacy is a feature,</a:t>
            </a:r>
            <a:br/>
            <a:r>
              <a:t>not a footnote.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370832"/>
            <a:ext cx="26974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A4BED6"/>
                </a:solidFill>
                <a:latin typeface="Aptos"/>
              </a:defRPr>
            </a:pPr>
            <a:r>
              <a:t>Designed so researchers can explain what crosses the AI boundary—and what does 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SAFETY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AI is not the last stop in an emergency.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NeuroCardioTwin keeps the emergency path separate from model inference and assistant chat.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401568" cy="233172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331720"/>
            <a:ext cx="438912" cy="438912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350008"/>
            <a:ext cx="2487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Recognise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16936"/>
            <a:ext cx="2999232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Visible urgent-warning panel covers chest pain or pressure, severe breathing difficulty, fainting, confusion, seizure and severe bleeding.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148840"/>
            <a:ext cx="3401568" cy="233172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0288" y="2331720"/>
            <a:ext cx="438912" cy="438912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2350008"/>
            <a:ext cx="2487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916936"/>
            <a:ext cx="2999232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One tap opens the phone dialler for Bangladesh National Emergency Service 999. The interface tells users not to wait for an AI reply.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148840"/>
            <a:ext cx="3401568" cy="233172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39328" y="2331720"/>
            <a:ext cx="438912" cy="438912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2350008"/>
            <a:ext cx="2487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916936"/>
            <a:ext cx="2999232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Bilingual Bengali/English instructions: alert someone nearby, do not stay alone, keep the phone available, and avoid driving when severely unwell.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" y="4983480"/>
            <a:ext cx="9235440" cy="548640"/>
          </a:xfrm>
          <a:prstGeom prst="roundRect">
            <a:avLst/>
          </a:prstGeom>
          <a:solidFill>
            <a:srgbClr val="3F1825"/>
          </a:solidFill>
          <a:ln>
            <a:solidFill>
              <a:srgbClr val="B442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175504"/>
            <a:ext cx="8732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DAE0"/>
                </a:solidFill>
                <a:latin typeface="Aptos"/>
              </a:defRPr>
            </a:pPr>
            <a:r>
              <a:t>Safety boundary: the app never diagnoses an emergency; it makes the fastest real-world help path obvious.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WHAT WE VALIDATE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Real model execution—not invented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Model performance is reported from the connected backend, while the interface exposes input and runtime constraints.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474720" cy="201168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438912" cy="43891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3500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Input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16936"/>
            <a:ext cx="30723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Required sample windows, finite-value checks, sampling rate, and validated input state before inference.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148840"/>
            <a:ext cx="3474720" cy="201168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2331720"/>
            <a:ext cx="438912" cy="438912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500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Operational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16936"/>
            <a:ext cx="30723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ONNX CPU model status, output confidence, classification/forecast details, and API-backed metrics surfaces.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148840"/>
            <a:ext cx="3474720" cy="201168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3" y="2331720"/>
            <a:ext cx="438912" cy="438912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1" y="2350008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Evidence traceability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1" y="2916936"/>
            <a:ext cx="30723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Decision outputs cite approved knowledge titles, making the RAG layer inspectable by judges.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78231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Courier New"/>
              </a:defRPr>
            </a:pPr>
            <a:r>
              <a:t>Honest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074920"/>
            <a:ext cx="10149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EDF6FF"/>
                </a:solidFill>
                <a:latin typeface="Aptos"/>
              </a:defRPr>
            </a:pPr>
            <a:r>
              <a:t>This is a research prototype, not a clinical device. Its strength is a transparent, reproducible workflow—not overstated medical claims.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IMPACT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A platform designed to grow with the research community.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043684"/>
            <a:ext cx="6053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Pilot with supervised research teams using consented, de-identified signal datasets.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79192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665476"/>
            <a:ext cx="6053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Expand the approved knowledge base through clinician/researcher review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00984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287268"/>
            <a:ext cx="6053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Add calibrated model evaluation, cohort-level fairness analysis, and reproducible audit exports.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22776"/>
            <a:ext cx="201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22D3EE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909060"/>
            <a:ext cx="60533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EDF6FF"/>
                </a:solidFill>
                <a:latin typeface="Aptos"/>
              </a:defRPr>
            </a:pPr>
            <a:r>
              <a:t>Connect validated real-time devices only after robust signal-quality and governance testing.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057400"/>
            <a:ext cx="3657600" cy="3108960"/>
          </a:xfrm>
          <a:prstGeom prst="roundRect">
            <a:avLst/>
          </a:prstGeom>
          <a:solidFill>
            <a:srgbClr val="122740"/>
          </a:solidFill>
          <a:ln>
            <a:solidFill>
              <a:srgbClr val="315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235000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Courier New"/>
              </a:defRPr>
            </a:pPr>
            <a:r>
              <a:t>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798064"/>
            <a:ext cx="2743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>
                <a:solidFill>
                  <a:srgbClr val="EDF6FF"/>
                </a:solidFill>
                <a:latin typeface="Aptos"/>
              </a:defRPr>
            </a:pPr>
            <a:r>
              <a:t>Inclusive,</a:t>
            </a:r>
            <a:br/>
            <a:r>
              <a:t>evidence-aware</a:t>
            </a:r>
            <a:br/>
            <a:r>
              <a:t>brain–heart AI.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443984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5CE1A7"/>
                </a:solidFill>
                <a:latin typeface="Aptos"/>
              </a:defRPr>
            </a:pPr>
            <a:r>
              <a:t>Built in Bangladesh; designed for globally responsible digital-health research.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MODEL CATALOGUE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Three ONNX models, one connected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Each model has an explicit input contract, output contract, and research-only safety boundary.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337560" cy="324612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359152"/>
            <a:ext cx="960120" cy="29260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41448"/>
            <a:ext cx="859536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71122"/>
                </a:solidFill>
                <a:latin typeface="Courier New"/>
              </a:defRPr>
            </a:pPr>
            <a:r>
              <a:t>EEG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07792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EDF6FF"/>
                </a:solidFill>
                <a:latin typeface="Aptos"/>
              </a:defRPr>
            </a:pPr>
            <a:r>
              <a:t>EEG seizure-pattern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657600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931920"/>
            <a:ext cx="2788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512 normalized EEG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4622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73659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Pattern flag, probability, threshold comparison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148840"/>
            <a:ext cx="3337560" cy="324612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08576" y="2359152"/>
            <a:ext cx="960120" cy="292608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441448"/>
            <a:ext cx="859536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71122"/>
                </a:solidFill>
                <a:latin typeface="Courier New"/>
              </a:defRPr>
            </a:pPr>
            <a:r>
              <a:t>ECG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907792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EDF6FF"/>
                </a:solidFill>
                <a:latin typeface="Aptos"/>
              </a:defRPr>
            </a:pPr>
            <a:r>
              <a:t>ECG arrhythmia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657600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14B8A6"/>
                </a:solidFill>
                <a:latin typeface="Courier New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931920"/>
            <a:ext cx="2788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180 normalized ECG samples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44622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14B8A6"/>
                </a:solidFill>
                <a:latin typeface="Courier New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73659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Normal/abnormal label and confidence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4736" y="2148840"/>
            <a:ext cx="3337560" cy="324612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75904" y="2359152"/>
            <a:ext cx="960120" cy="292608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2441448"/>
            <a:ext cx="859536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71122"/>
                </a:solidFill>
                <a:latin typeface="Courier New"/>
              </a:defRPr>
            </a:pPr>
            <a:r>
              <a:t>ECG+EEG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907792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EDF6FF"/>
                </a:solidFill>
                <a:latin typeface="Aptos"/>
              </a:defRPr>
            </a:pPr>
            <a:r>
              <a:t>Joint ECG–EEG forecasting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3657600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A78BFA"/>
                </a:solidFill>
                <a:latin typeface="Courier New"/>
              </a:defRPr>
            </a:pPr>
            <a:r>
              <a:t>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3931920"/>
            <a:ext cx="2788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256 ECG + 256 EEG samples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44622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A78BFA"/>
                </a:solidFill>
                <a:latin typeface="Courier New"/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473659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A4BED6"/>
                </a:solidFill>
                <a:latin typeface="Aptos"/>
              </a:defRPr>
            </a:pPr>
            <a:r>
              <a:t>64-step projected ECG and EEG sequences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SIGNAL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Validate first. Infer second.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The system refuses missing, non-numeric, or insufficient user input instead of silently producing a model result.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2395728"/>
            <a:ext cx="1938528" cy="214884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33472"/>
            <a:ext cx="292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72384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Acquire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566160"/>
            <a:ext cx="157276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User uploads EEG/ECG CSV, or explicitly selects Demo or Sensor mode.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26440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395728"/>
            <a:ext cx="1938528" cy="214884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633472"/>
            <a:ext cx="292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072384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566160"/>
            <a:ext cx="157276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Finite numeric values, required modality, sample count, sampling rate and model availability.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326440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2395728"/>
            <a:ext cx="1938528" cy="214884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2" y="2633472"/>
            <a:ext cx="292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3072384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Resample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3566160"/>
            <a:ext cx="157276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Incoming time base is converted to the 128 Hz model time base.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7184" y="326440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07223" y="2395728"/>
            <a:ext cx="1938528" cy="214884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0103" y="2633472"/>
            <a:ext cx="292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0103" y="3072384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0103" y="3566160"/>
            <a:ext cx="157276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Per-window standardization prepares a consistent input tensor.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5" y="3264408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B8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0655" y="2395728"/>
            <a:ext cx="1938528" cy="214884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03535" y="2633472"/>
            <a:ext cx="292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3535" y="3072384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Infer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5" y="3566160"/>
            <a:ext cx="157276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ONNX Runtime executes fixed-size tensors on the backend CPU.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5010912"/>
            <a:ext cx="10104120" cy="502920"/>
          </a:xfrm>
          <a:prstGeom prst="roundRect">
            <a:avLst/>
          </a:prstGeom>
          <a:solidFill>
            <a:srgbClr val="371D28"/>
          </a:solidFill>
          <a:ln>
            <a:solidFill>
              <a:srgbClr val="9F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61872" y="5175504"/>
            <a:ext cx="96743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D4DC"/>
                </a:solidFill>
                <a:latin typeface="Aptos"/>
              </a:defRPr>
            </a:pPr>
            <a:r>
              <a:t>No upload + no explicit demo/sensor selection = no inference. The platform does not fabricate a result from absent signal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RAG DECISION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Ground the explanation after local inference.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The assistant enriches a model output with reviewed knowledge; it never replaces the local biomedical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4983480" cy="128016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450592"/>
            <a:ext cx="438912" cy="43891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51176"/>
            <a:ext cx="43891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71122"/>
                </a:solidFill>
                <a:latin typeface="Courier New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22576"/>
            <a:ext cx="3566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Local model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24912"/>
            <a:ext cx="37490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Analysis type, model label, confidence/probability, threshold and input-validation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103120"/>
            <a:ext cx="4983480" cy="128016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28232" y="2450592"/>
            <a:ext cx="438912" cy="43891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551176"/>
            <a:ext cx="43891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71122"/>
                </a:solidFill>
                <a:latin typeface="Courier New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322576"/>
            <a:ext cx="3566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Compact metadata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724912"/>
            <a:ext cx="37490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Privacy-minimized decision context is formed; waveform values and account data are excluded.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30752"/>
            <a:ext cx="4983480" cy="128016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4078224"/>
            <a:ext cx="438912" cy="438912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178808"/>
            <a:ext cx="43891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71122"/>
                </a:solidFill>
                <a:latin typeface="Courier New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50208"/>
            <a:ext cx="3566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Semantic 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52544"/>
            <a:ext cx="37490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Hugging Face embeddings query Pinecone using cosine similarity over approved documents.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3730752"/>
            <a:ext cx="4983480" cy="128016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28232" y="4078224"/>
            <a:ext cx="438912" cy="438912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178808"/>
            <a:ext cx="43891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71122"/>
                </a:solidFill>
                <a:latin typeface="Courier New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950208"/>
            <a:ext cx="3566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DF6FF"/>
                </a:solidFill>
                <a:latin typeface="Aptos"/>
              </a:defRPr>
            </a:pPr>
            <a:r>
              <a:t>Grounded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352544"/>
            <a:ext cx="3749039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0">
                <a:solidFill>
                  <a:srgbClr val="A4BED6"/>
                </a:solidFill>
                <a:latin typeface="Aptos"/>
              </a:defRPr>
            </a:pPr>
            <a:r>
              <a:t>The language layer uses retrieved evidence plus the ONNX result for research guidance and citations.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544068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Courier New"/>
              </a:defRPr>
            </a:pPr>
            <a:r>
              <a:t>Key distinction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571500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EDF6FF"/>
                </a:solidFill>
                <a:latin typeface="Aptos"/>
              </a:defRPr>
            </a:pPr>
            <a:r>
              <a:t>Prediction is ONNX model inference. RAG explains and contextualizes the result using approved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LIVE DEMO STORYBOARD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Show the product in 90 seconds.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This sequence maps directly to the deployed website screens and makes the architecture visible to judges.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93392"/>
            <a:ext cx="914400" cy="384048"/>
          </a:xfrm>
          <a:prstGeom prst="roundRect">
            <a:avLst/>
          </a:prstGeom>
          <a:solidFill>
            <a:srgbClr val="16304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12264"/>
            <a:ext cx="74980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011680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EDF6FF"/>
                </a:solidFill>
                <a:latin typeface="Aptos"/>
              </a:defRPr>
            </a:pPr>
            <a:r>
              <a:t>Secure sign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3087" y="2020824"/>
            <a:ext cx="6629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Auth0 login; authenticated user lands in a private profile.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15184"/>
            <a:ext cx="914400" cy="384048"/>
          </a:xfrm>
          <a:prstGeom prst="roundRect">
            <a:avLst/>
          </a:prstGeom>
          <a:solidFill>
            <a:srgbClr val="16304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734056"/>
            <a:ext cx="74980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33472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EDF6FF"/>
                </a:solidFill>
                <a:latin typeface="Aptos"/>
              </a:defRPr>
            </a:pPr>
            <a:r>
              <a:t>Profile &amp; 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642616"/>
            <a:ext cx="6629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Show editable profile and server-filtered completed decision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36976"/>
            <a:ext cx="914400" cy="384048"/>
          </a:xfrm>
          <a:prstGeom prst="roundRect">
            <a:avLst/>
          </a:prstGeom>
          <a:solidFill>
            <a:srgbClr val="16304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355848"/>
            <a:ext cx="74980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55264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EDF6FF"/>
                </a:solidFill>
                <a:latin typeface="Aptos"/>
              </a:defRPr>
            </a:pPr>
            <a:r>
              <a:t>Signal 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7" y="3264408"/>
            <a:ext cx="6629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Upload EEG/ECG data, select the model, show validation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58768"/>
            <a:ext cx="914400" cy="384048"/>
          </a:xfrm>
          <a:prstGeom prst="roundRect">
            <a:avLst/>
          </a:prstGeom>
          <a:solidFill>
            <a:srgbClr val="16304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77640"/>
            <a:ext cx="74980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0:50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877056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EDF6FF"/>
                </a:solidFill>
                <a:latin typeface="Aptos"/>
              </a:defRPr>
            </a:pPr>
            <a:r>
              <a:t>Local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3886200"/>
            <a:ext cx="6629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Show probability/confidence, threshold, validated samples and waveform.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80560"/>
            <a:ext cx="914400" cy="384048"/>
          </a:xfrm>
          <a:prstGeom prst="roundRect">
            <a:avLst/>
          </a:prstGeom>
          <a:solidFill>
            <a:srgbClr val="16304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599432"/>
            <a:ext cx="74980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1:10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49884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EDF6FF"/>
                </a:solidFill>
                <a:latin typeface="Aptos"/>
              </a:defRPr>
            </a:pPr>
            <a:r>
              <a:t>AI research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7" y="4507992"/>
            <a:ext cx="6629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Open the assistant; show grounded, multilingual response and safety boundary.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102352"/>
            <a:ext cx="914400" cy="384048"/>
          </a:xfrm>
          <a:prstGeom prst="roundRect">
            <a:avLst/>
          </a:prstGeom>
          <a:solidFill>
            <a:srgbClr val="16304C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221224"/>
            <a:ext cx="749808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1:25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5120640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EDF6FF"/>
                </a:solidFill>
                <a:latin typeface="Aptos"/>
              </a:defRPr>
            </a:pPr>
            <a:r>
              <a:t>Emergency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3087" y="5129784"/>
            <a:ext cx="6629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Show urgent-help action and Bangladesh 999 escalation path.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0789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SCIENTIFIC BOUNDARY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EDF6FF"/>
                </a:solidFill>
                <a:latin typeface="Aptos"/>
              </a:defRPr>
            </a:pPr>
            <a:r>
              <a:t>A credible prototype says what it can—and cannot—do.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2529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4BED6"/>
                </a:solidFill>
                <a:latin typeface="Aptos"/>
              </a:defRPr>
            </a:pPr>
            <a:r>
              <a:t>We position NeuroCardioTwin as a deployable research workflow, not a clinical diagnostic device.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64792"/>
            <a:ext cx="11064240" cy="18288"/>
          </a:xfrm>
          <a:prstGeom prst="rect">
            <a:avLst/>
          </a:prstGeom>
          <a:solidFill>
            <a:srgbClr val="305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401568" cy="224028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331720"/>
            <a:ext cx="438912" cy="438912"/>
          </a:xfrm>
          <a:prstGeom prst="roundRect">
            <a:avLst/>
          </a:prstGeom>
          <a:solidFill>
            <a:srgbClr val="FB7185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350008"/>
            <a:ext cx="2487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Current boundary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16936"/>
            <a:ext cx="299923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Prototype models and controlled input contracts. Results require qualified review and are not treatment, diagnosis, or triage advice.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148840"/>
            <a:ext cx="3401568" cy="224028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0288" y="2331720"/>
            <a:ext cx="438912" cy="43891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2350008"/>
            <a:ext cx="2487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Next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916936"/>
            <a:ext cx="299923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Use de-identified datasets, patient/record-level splits, calibration, external evaluation, fairness analysis, and clinician feedback.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148840"/>
            <a:ext cx="3401568" cy="2240280"/>
          </a:xfrm>
          <a:prstGeom prst="roundRect">
            <a:avLst/>
          </a:prstGeom>
          <a:solidFill>
            <a:srgbClr val="122740"/>
          </a:solidFill>
          <a:ln>
            <a:solidFill>
              <a:srgbClr val="2F5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39328" y="2331720"/>
            <a:ext cx="438912" cy="438912"/>
          </a:xfrm>
          <a:prstGeom prst="roundRect">
            <a:avLst/>
          </a:prstGeom>
          <a:solidFill>
            <a:srgbClr val="5CE1A7"/>
          </a:solidFill>
          <a:ln>
            <a:solidFill>
              <a:srgbClr val="5CE1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395728"/>
            <a:ext cx="4389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7112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2350008"/>
            <a:ext cx="24871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EDF6FF"/>
                </a:solidFill>
                <a:latin typeface="Aptos"/>
              </a:defRPr>
            </a:pPr>
            <a:r>
              <a:t>Deployment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916936"/>
            <a:ext cx="299923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50" b="0">
                <a:solidFill>
                  <a:srgbClr val="A4BED6"/>
                </a:solidFill>
                <a:latin typeface="Aptos"/>
              </a:defRPr>
            </a:pPr>
            <a:r>
              <a:t>Governed knowledge approval, audit exports, robust device integration, and prospective evaluation before any clinical claim.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2144" y="4983480"/>
            <a:ext cx="9144000" cy="576072"/>
          </a:xfrm>
          <a:prstGeom prst="roundRect">
            <a:avLst/>
          </a:prstGeom>
          <a:solidFill>
            <a:srgbClr val="0E3741"/>
          </a:solidFill>
          <a:ln>
            <a:solidFill>
              <a:srgbClr val="25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19379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5CE1A7"/>
                </a:solidFill>
                <a:latin typeface="Aptos"/>
              </a:defRPr>
            </a:pPr>
            <a:r>
              <a:t>Our competitive advantage is responsible execution: secure data boundaries, inspectable AI, and an honest validation roadmap.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3566160"/>
            <a:ext cx="3749039" cy="3749039"/>
          </a:xfrm>
          <a:prstGeom prst="ellipse">
            <a:avLst/>
          </a:prstGeom>
          <a:solidFill>
            <a:srgbClr val="0E4E5E"/>
          </a:solidFill>
          <a:ln>
            <a:solidFill>
              <a:srgbClr val="0E4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NEUROCARDIOTWIN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87782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700" b="1">
                <a:solidFill>
                  <a:srgbClr val="EDF6FF"/>
                </a:solidFill>
                <a:latin typeface="Aptos"/>
              </a:defRPr>
            </a:pPr>
            <a:r>
              <a:t>Better signals.</a:t>
            </a:r>
            <a:br/>
            <a:r>
              <a:t>Better context.</a:t>
            </a:r>
            <a:br/>
            <a:r>
              <a:t>Better research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56432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A4BED6"/>
                </a:solidFill>
                <a:latin typeface="Aptos"/>
              </a:defRPr>
            </a:pPr>
            <a:r>
              <a:t>The brain and heart should not be understood in isolation.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343400"/>
            <a:ext cx="3154680" cy="566928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535424"/>
            <a:ext cx="2697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71122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7150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urier New"/>
              </a:defRPr>
            </a:pPr>
            <a:r>
              <a:t>Live demo: neurocardiotwin.vercel.app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7315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A4BED6"/>
                </a:solidFill>
                <a:latin typeface="Courier New"/>
              </a:defRPr>
            </a:pPr>
            <a:r>
              <a:t>NEUROCARDIOTWIN  •  AI-POWERED BRAIN–HEART DIGITAL TWIN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830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D3EE"/>
                </a:solidFill>
                <a:latin typeface="Courier New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